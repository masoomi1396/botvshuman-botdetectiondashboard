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5760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Aptos"/>
              </a:rPr>
              <a:t>UNIVERSITY OF TWENTE  /  GROUP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5669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CADC"/>
                </a:solidFill>
                <a:latin typeface="Aptos"/>
              </a:rPr>
              <a:t>PROJECT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234440"/>
            <a:ext cx="777240" cy="50292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594360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1F5F9"/>
                </a:solidFill>
                <a:latin typeface="Aptos"/>
              </a:rPr>
              <a:t>BOT VS
HUMAN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72384"/>
            <a:ext cx="5440680" cy="7201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dirty="0">
                <a:solidFill>
                  <a:srgbClr val="BECADC"/>
                </a:solidFill>
                <a:latin typeface="Aptos"/>
              </a:rPr>
              <a:t>Behavior-based bot detection for an online ticket 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41648"/>
            <a:ext cx="5212080" cy="6766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1F5F9"/>
                </a:solidFill>
                <a:latin typeface="Aptos"/>
              </a:rPr>
              <a:t>Using recorded session patterns to distinguish automated activity from human customers.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5166360"/>
            <a:ext cx="1627632" cy="804672"/>
          </a:xfrm>
          <a:prstGeom prst="roundRect">
            <a:avLst/>
          </a:prstGeom>
          <a:solidFill>
            <a:srgbClr val="151F32"/>
          </a:solidFill>
          <a:ln>
            <a:solidFill>
              <a:srgbClr val="15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5266944"/>
            <a:ext cx="140817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8BDF8"/>
                </a:solidFill>
                <a:latin typeface="Aptos"/>
              </a:rPr>
              <a:t>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596128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BECADC"/>
                </a:solidFill>
                <a:latin typeface="Aptos"/>
              </a:rPr>
              <a:t>RECORDED SESSIONS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2032" y="5166360"/>
            <a:ext cx="1627632" cy="804672"/>
          </a:xfrm>
          <a:prstGeom prst="roundRect">
            <a:avLst/>
          </a:prstGeom>
          <a:solidFill>
            <a:srgbClr val="151F32"/>
          </a:solidFill>
          <a:ln>
            <a:solidFill>
              <a:srgbClr val="15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5266944"/>
            <a:ext cx="140817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DD4BF"/>
                </a:solidFill>
                <a:latin typeface="Aptos"/>
              </a:rPr>
              <a:t>KNN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5596128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BECADC"/>
                </a:solidFill>
                <a:latin typeface="Aptos"/>
              </a:rPr>
              <a:t>CLASSIFICATION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166360"/>
            <a:ext cx="1627632" cy="804672"/>
          </a:xfrm>
          <a:prstGeom prst="roundRect">
            <a:avLst/>
          </a:prstGeom>
          <a:solidFill>
            <a:srgbClr val="151F32"/>
          </a:solidFill>
          <a:ln>
            <a:solidFill>
              <a:srgbClr val="15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98848" y="5266944"/>
            <a:ext cx="140817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BBF24"/>
                </a:solidFill>
                <a:latin typeface="Aptos"/>
              </a:rPr>
              <a:t>STREAMLIT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5596128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BECADC"/>
                </a:solidFill>
                <a:latin typeface="Aptos"/>
              </a:rPr>
              <a:t>INTERACTIVE 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658368"/>
            <a:ext cx="4846320" cy="5468112"/>
          </a:xfrm>
          <a:prstGeom prst="roundRect">
            <a:avLst/>
          </a:prstGeom>
          <a:solidFill>
            <a:srgbClr val="151F32"/>
          </a:solidFill>
          <a:ln>
            <a:solidFill>
              <a:srgbClr val="15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68312" y="950976"/>
            <a:ext cx="4114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1F5F9"/>
                </a:solidFill>
                <a:latin typeface="Aptos"/>
              </a:rPr>
              <a:t>PROJECT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1298448"/>
            <a:ext cx="4069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ECADC"/>
                </a:solidFill>
                <a:latin typeface="Aptos"/>
              </a:rPr>
              <a:t>Group 14  •  University of Twente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68312" y="1709928"/>
            <a:ext cx="4114800" cy="22860"/>
          </a:xfrm>
          <a:prstGeom prst="rect">
            <a:avLst/>
          </a:prstGeom>
          <a:solidFill>
            <a:srgbClr val="364862"/>
          </a:solidFill>
          <a:ln>
            <a:solidFill>
              <a:srgbClr val="36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114032" y="1938528"/>
            <a:ext cx="502920" cy="502920"/>
          </a:xfrm>
          <a:prstGeom prst="ellipse">
            <a:avLst/>
          </a:prstGeom>
          <a:solidFill>
            <a:srgbClr val="1C2A4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14032" y="2011680"/>
            <a:ext cx="50292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ptos"/>
              </a:rPr>
              <a:t>RJ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2066544"/>
            <a:ext cx="331012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F1F5F9"/>
                </a:solidFill>
                <a:latin typeface="Aptos"/>
              </a:rPr>
              <a:t>Romāns </a:t>
            </a:r>
            <a:r>
              <a:rPr sz="1300" b="1" dirty="0" err="1">
                <a:solidFill>
                  <a:srgbClr val="F1F5F9"/>
                </a:solidFill>
                <a:latin typeface="Aptos"/>
              </a:rPr>
              <a:t>Jurčonoks</a:t>
            </a:r>
            <a:endParaRPr sz="1300" b="1" dirty="0">
              <a:solidFill>
                <a:srgbClr val="F1F5F9"/>
              </a:solidFill>
              <a:latin typeface="Apto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790688" y="2697480"/>
            <a:ext cx="3319272" cy="16459"/>
          </a:xfrm>
          <a:prstGeom prst="rect">
            <a:avLst/>
          </a:prstGeom>
          <a:solidFill>
            <a:srgbClr val="364862"/>
          </a:solidFill>
          <a:ln>
            <a:solidFill>
              <a:srgbClr val="36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114032" y="2852928"/>
            <a:ext cx="502920" cy="502920"/>
          </a:xfrm>
          <a:prstGeom prst="ellipse">
            <a:avLst/>
          </a:prstGeom>
          <a:solidFill>
            <a:srgbClr val="1C2A41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14032" y="2926080"/>
            <a:ext cx="50292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JL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2971800"/>
            <a:ext cx="331012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1F5F9"/>
                </a:solidFill>
                <a:latin typeface="Aptos"/>
              </a:rPr>
              <a:t>Jan-Jaap Lankhaar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9831" y="3172968"/>
            <a:ext cx="31089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endParaRPr sz="950" b="0" dirty="0">
              <a:solidFill>
                <a:srgbClr val="BECADC"/>
              </a:solidFill>
              <a:latin typeface="Apto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790688" y="3611880"/>
            <a:ext cx="3319272" cy="16459"/>
          </a:xfrm>
          <a:prstGeom prst="rect">
            <a:avLst/>
          </a:prstGeom>
          <a:solidFill>
            <a:srgbClr val="364862"/>
          </a:solidFill>
          <a:ln>
            <a:solidFill>
              <a:srgbClr val="36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114032" y="3767328"/>
            <a:ext cx="502920" cy="502920"/>
          </a:xfrm>
          <a:prstGeom prst="ellipse">
            <a:avLst/>
          </a:prstGeom>
          <a:solidFill>
            <a:srgbClr val="1C2A41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14032" y="3840480"/>
            <a:ext cx="50292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dirty="0">
                <a:solidFill>
                  <a:srgbClr val="FBBF24"/>
                </a:solidFill>
                <a:latin typeface="Aptos"/>
              </a:rPr>
              <a:t>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0688" y="3894944"/>
            <a:ext cx="331012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F1F5F9"/>
                </a:solidFill>
                <a:latin typeface="Aptos"/>
              </a:rPr>
              <a:t>Amirmohammad Masoumi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9831" y="4087368"/>
            <a:ext cx="31089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endParaRPr sz="950" b="0" dirty="0">
              <a:solidFill>
                <a:srgbClr val="BECADC"/>
              </a:solidFill>
              <a:latin typeface="Apto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790688" y="4526280"/>
            <a:ext cx="3319272" cy="16459"/>
          </a:xfrm>
          <a:prstGeom prst="rect">
            <a:avLst/>
          </a:prstGeom>
          <a:solidFill>
            <a:srgbClr val="364862"/>
          </a:solidFill>
          <a:ln>
            <a:solidFill>
              <a:srgbClr val="36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114032" y="4681728"/>
            <a:ext cx="502920" cy="502920"/>
          </a:xfrm>
          <a:prstGeom prst="ellipse">
            <a:avLst/>
          </a:prstGeom>
          <a:solidFill>
            <a:srgbClr val="1C2A4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14032" y="4754880"/>
            <a:ext cx="50292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ptos"/>
              </a:rPr>
              <a:t>MM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0688" y="4799297"/>
            <a:ext cx="331012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F1F5F9"/>
                </a:solidFill>
                <a:latin typeface="Aptos"/>
              </a:rPr>
              <a:t>Meraj </a:t>
            </a:r>
            <a:r>
              <a:rPr sz="1300" b="1" dirty="0" err="1">
                <a:solidFill>
                  <a:srgbClr val="F1F5F9"/>
                </a:solidFill>
                <a:latin typeface="Aptos"/>
              </a:rPr>
              <a:t>Mosaybezadeh</a:t>
            </a:r>
            <a:endParaRPr sz="1300" b="1" dirty="0">
              <a:solidFill>
                <a:srgbClr val="F1F5F9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99831" y="5001768"/>
            <a:ext cx="31089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endParaRPr sz="950" b="0" dirty="0">
              <a:solidFill>
                <a:srgbClr val="BECADC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85800" y="6492240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ECADC"/>
                </a:solidFill>
                <a:latin typeface="Aptos"/>
              </a:rPr>
              <a:t>BOT VS HUMAN  •  DATA-DRIVEN APPLICATION</a:t>
            </a:r>
          </a:p>
        </p:txBody>
      </p:sp>
      <p:sp>
        <p:nvSpPr>
          <p:cNvPr id="42" name="Oval 41"/>
          <p:cNvSpPr/>
          <p:nvPr/>
        </p:nvSpPr>
        <p:spPr>
          <a:xfrm>
            <a:off x="10881360" y="210312"/>
            <a:ext cx="237744" cy="237744"/>
          </a:xfrm>
          <a:prstGeom prst="ellipse">
            <a:avLst/>
          </a:prstGeom>
          <a:solidFill>
            <a:srgbClr val="0B1120"/>
          </a:solidFill>
          <a:ln w="2032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192256" y="210312"/>
            <a:ext cx="237744" cy="237744"/>
          </a:xfrm>
          <a:prstGeom prst="ellipse">
            <a:avLst/>
          </a:prstGeom>
          <a:solidFill>
            <a:srgbClr val="0B1120"/>
          </a:solidFill>
          <a:ln w="2032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1503152" y="210312"/>
            <a:ext cx="237744" cy="237744"/>
          </a:xfrm>
          <a:prstGeom prst="ellipse">
            <a:avLst/>
          </a:prstGeom>
          <a:solidFill>
            <a:srgbClr val="0B1120"/>
          </a:solidFill>
          <a:ln w="203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9456"/>
            <a:ext cx="107442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4F7FC"/>
                </a:solidFill>
                <a:latin typeface="Aptos"/>
              </a:rPr>
              <a:t>Purpose of the data-driven application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201400" y="265176"/>
            <a:ext cx="438912" cy="329184"/>
          </a:xfrm>
          <a:prstGeom prst="roundRect">
            <a:avLst/>
          </a:prstGeom>
          <a:solidFill>
            <a:srgbClr val="1D2B41"/>
          </a:solidFill>
          <a:ln>
            <a:solidFill>
              <a:srgbClr val="1D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74320"/>
            <a:ext cx="43891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8BDF8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2BFD2"/>
                </a:solidFill>
                <a:latin typeface="Aptos"/>
              </a:rPr>
              <a:t>Bot detection for an online ticket shop — using behaviour, not just assumptions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713232" cy="4114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11064240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2BFD2"/>
                </a:solidFill>
                <a:latin typeface="Aptos"/>
              </a:rPr>
              <a:t>BOT VS HUMAN  •  GROUP 14  •  UNIVERSITY OF TWENTE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89888"/>
            <a:ext cx="6400800" cy="466344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91640"/>
            <a:ext cx="5715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7FC"/>
                </a:solidFill>
                <a:latin typeface="Aptos"/>
              </a:rPr>
              <a:t>BOT  ≠  HUMAN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31720"/>
            <a:ext cx="5623560" cy="7863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B2BFD2"/>
                </a:solidFill>
                <a:latin typeface="Aptos"/>
              </a:rPr>
              <a:t>Learn patterns in recorded website sessions to flag activity that is more likely to be automated.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3364992"/>
            <a:ext cx="5715000" cy="941832"/>
          </a:xfrm>
          <a:prstGeom prst="roundRect">
            <a:avLst/>
          </a:prstGeom>
          <a:solidFill>
            <a:srgbClr val="1D2B41"/>
          </a:solidFill>
          <a:ln>
            <a:solidFill>
              <a:srgbClr val="1D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96112" y="3364992"/>
            <a:ext cx="59436" cy="94183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520440"/>
            <a:ext cx="53035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7FC"/>
                </a:solidFill>
                <a:latin typeface="Aptos"/>
              </a:rPr>
              <a:t>Goal: detect suspicious ticket-purchasing sessions while reducing the risk of blocking real customers by mistake.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599432"/>
            <a:ext cx="155448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BDF8"/>
                </a:solidFill>
                <a:latin typeface="Aptos"/>
              </a:rPr>
              <a:t>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882896"/>
            <a:ext cx="21031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4F7FC"/>
                </a:solidFill>
                <a:latin typeface="Aptos"/>
              </a:rPr>
              <a:t>400 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599432"/>
            <a:ext cx="155448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BDF8"/>
                </a:solidFill>
                <a:latin typeface="Aptos"/>
              </a:rPr>
              <a:t>TARGET LABEL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882896"/>
            <a:ext cx="283464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4F7FC"/>
                </a:solidFill>
                <a:latin typeface="Aptos"/>
              </a:rPr>
              <a:t>0 Human  /  1 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513832"/>
            <a:ext cx="5577840" cy="2834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FD2"/>
                </a:solidFill>
                <a:latin typeface="Aptos"/>
              </a:rPr>
              <a:t>Behaviour signals: mouse movement • clicking • typing • scrolling • dwell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1389888"/>
            <a:ext cx="4370832" cy="205740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1389888"/>
            <a:ext cx="59436" cy="205740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43216" y="1508760"/>
            <a:ext cx="400507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Aptos"/>
              </a:rPr>
              <a:t>Who it is 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1920240"/>
            <a:ext cx="3959352" cy="6903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4F7FC"/>
                </a:solidFill>
                <a:latin typeface="Aptos"/>
              </a:rPr>
              <a:t>• People analysing customer sessions and ticket-shop activity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628900"/>
            <a:ext cx="3959352" cy="6903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4F7FC"/>
                </a:solidFill>
                <a:latin typeface="Aptos"/>
              </a:rPr>
              <a:t>• Staff investigating unusual or repeated behaviour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42048" y="3675887"/>
            <a:ext cx="4370832" cy="237744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42048" y="3675887"/>
            <a:ext cx="59436" cy="2377440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43216" y="3794759"/>
            <a:ext cx="400507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DD4BF"/>
                </a:solidFill>
                <a:latin typeface="Aptos"/>
              </a:rPr>
              <a:t>What it provides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206240"/>
            <a:ext cx="3959352" cy="56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4F7FC"/>
                </a:solidFill>
                <a:latin typeface="Aptos"/>
              </a:rPr>
              <a:t>• HUMAN or BOT predictions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785360"/>
            <a:ext cx="3959352" cy="56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4F7FC"/>
                </a:solidFill>
                <a:latin typeface="Aptos"/>
              </a:rPr>
              <a:t>• Graphs to inspect outcomes and trends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5364480"/>
            <a:ext cx="3959352" cy="56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4F7FC"/>
                </a:solidFill>
                <a:latin typeface="Aptos"/>
              </a:rPr>
              <a:t>• SQL filters to explore session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9456"/>
            <a:ext cx="107442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4F7FC"/>
                </a:solidFill>
                <a:latin typeface="Aptos"/>
              </a:rPr>
              <a:t>Requirements agreed with the client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201400" y="265176"/>
            <a:ext cx="438912" cy="329184"/>
          </a:xfrm>
          <a:prstGeom prst="roundRect">
            <a:avLst/>
          </a:prstGeom>
          <a:solidFill>
            <a:srgbClr val="1D2B41"/>
          </a:solidFill>
          <a:ln>
            <a:solidFill>
              <a:srgbClr val="1D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74320"/>
            <a:ext cx="43891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8BDF8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2BFD2"/>
                </a:solidFill>
                <a:latin typeface="Aptos"/>
              </a:rPr>
              <a:t>Six functional requirements define the intended analysis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713232" cy="4114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11064240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2BFD2"/>
                </a:solidFill>
                <a:latin typeface="Aptos"/>
              </a:rPr>
              <a:t>BOT VS HUMAN  •  GROUP 14  •  UNIVERSITY OF TWENTE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3310128" cy="196596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389888"/>
            <a:ext cx="59436" cy="19659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517904"/>
            <a:ext cx="4937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8BDF8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47088"/>
            <a:ext cx="29077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7FC"/>
                </a:solidFill>
                <a:latin typeface="Aptos"/>
              </a:rPr>
              <a:t>Session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290779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2BFD2"/>
                </a:solidFill>
                <a:latin typeface="Aptos"/>
              </a:rPr>
              <a:t>Provide a session with mouse, keyboard, activity and metadata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4" y="1389888"/>
            <a:ext cx="3310128" cy="196596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43984" y="1389888"/>
            <a:ext cx="59436" cy="1965960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26864" y="1517904"/>
            <a:ext cx="4937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1847088"/>
            <a:ext cx="29077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7FC"/>
                </a:solidFill>
                <a:latin typeface="Aptos"/>
              </a:rPr>
              <a:t>Human / bot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2286000"/>
            <a:ext cx="290779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2BFD2"/>
                </a:solidFill>
                <a:latin typeface="Aptos"/>
              </a:rPr>
              <a:t>Classify a session with a target of at least 90% accuracy.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93608" y="1389888"/>
            <a:ext cx="3310128" cy="196596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93608" y="1389888"/>
            <a:ext cx="59436" cy="196596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76488" y="1517904"/>
            <a:ext cx="4937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BBF24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1847088"/>
            <a:ext cx="2907792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1500" b="1" dirty="0">
                <a:solidFill>
                  <a:srgbClr val="F4F7FC"/>
                </a:solidFill>
                <a:latin typeface="Aptos"/>
              </a:rPr>
              <a:t>Filter based on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6488" y="2286000"/>
            <a:ext cx="2907792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1200" dirty="0">
                <a:solidFill>
                  <a:srgbClr val="B2BFD2"/>
                </a:solidFill>
                <a:latin typeface="Aptos"/>
              </a:rPr>
              <a:t>Allow user to filter the result based on the features.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685032"/>
            <a:ext cx="3310128" cy="196596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3685032"/>
            <a:ext cx="59436" cy="19659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813048"/>
            <a:ext cx="4937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8BDF8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142232"/>
            <a:ext cx="29077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7FC"/>
                </a:solidFill>
                <a:latin typeface="Aptos"/>
              </a:rPr>
              <a:t>Distinguishing patterns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81144"/>
            <a:ext cx="290779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2BFD2"/>
                </a:solidFill>
                <a:latin typeface="Aptos"/>
              </a:rPr>
              <a:t>Show patterns that help explain the human-versus-bot distinction.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43984" y="3685032"/>
            <a:ext cx="3310128" cy="196596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43984" y="3685032"/>
            <a:ext cx="59436" cy="1965960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26864" y="3813048"/>
            <a:ext cx="4937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4142232"/>
            <a:ext cx="29077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7FC"/>
                </a:solidFill>
                <a:latin typeface="Aptos"/>
              </a:rPr>
              <a:t>SQL exploration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6864" y="4581144"/>
            <a:ext cx="290779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2BFD2"/>
                </a:solidFill>
                <a:latin typeface="Aptos"/>
              </a:rPr>
              <a:t>Let users query and filter sessions and selected features.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93608" y="3685032"/>
            <a:ext cx="3310128" cy="196596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93608" y="3685032"/>
            <a:ext cx="59436" cy="196596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76488" y="3813048"/>
            <a:ext cx="4937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BBF24"/>
                </a:solidFill>
                <a:latin typeface="Apto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6488" y="4142232"/>
            <a:ext cx="29077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7FC"/>
                </a:solidFill>
                <a:latin typeface="Aptos"/>
              </a:rPr>
              <a:t>Visualisations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6488" y="4581144"/>
            <a:ext cx="290779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2BFD2"/>
                </a:solidFill>
                <a:latin typeface="Aptos"/>
              </a:rPr>
              <a:t>Display graphs that help users explore data trends.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9456"/>
            <a:ext cx="107442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4F7FC"/>
                </a:solidFill>
                <a:latin typeface="Aptos"/>
              </a:rPr>
              <a:t>Data cleaning and preparation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201400" y="265176"/>
            <a:ext cx="438912" cy="329184"/>
          </a:xfrm>
          <a:prstGeom prst="roundRect">
            <a:avLst/>
          </a:prstGeom>
          <a:solidFill>
            <a:srgbClr val="1D2B41"/>
          </a:solidFill>
          <a:ln>
            <a:solidFill>
              <a:srgbClr val="1D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74320"/>
            <a:ext cx="43891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8BDF8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2BFD2"/>
                </a:solidFill>
                <a:latin typeface="Aptos"/>
              </a:rPr>
              <a:t>Prepared the 400-row dataset for analysis and distance-based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713232" cy="4114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11064240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2BFD2"/>
                </a:solidFill>
                <a:latin typeface="Aptos"/>
              </a:rPr>
              <a:t>BOT VS HUMAN  •  GROUP 14  •  UNIVERSITY OF TWENTE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2395728" cy="224028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417320"/>
            <a:ext cx="59436" cy="224028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72768"/>
            <a:ext cx="347472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8BDF8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01952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7FC"/>
                </a:solidFill>
                <a:latin typeface="Aptos"/>
              </a:rPr>
              <a:t>Inspect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95728"/>
            <a:ext cx="2057400" cy="10241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2BFD2"/>
                </a:solidFill>
                <a:latin typeface="Aptos"/>
              </a:rPr>
              <a:t>Checked 400 rows, 20 columns, data types and bot labels.</a:t>
            </a:r>
          </a:p>
        </p:txBody>
      </p:sp>
      <p:sp>
        <p:nvSpPr>
          <p:cNvPr id="19" name="Chevron 18"/>
          <p:cNvSpPr/>
          <p:nvPr/>
        </p:nvSpPr>
        <p:spPr>
          <a:xfrm>
            <a:off x="3067812" y="2322576"/>
            <a:ext cx="292608" cy="384048"/>
          </a:xfrm>
          <a:prstGeom prst="chevron">
            <a:avLst/>
          </a:prstGeom>
          <a:solidFill>
            <a:srgbClr val="35465E"/>
          </a:solidFill>
          <a:ln>
            <a:solidFill>
              <a:srgbClr val="35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470148" y="1435608"/>
            <a:ext cx="2395728" cy="224028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70148" y="1435608"/>
            <a:ext cx="59436" cy="224028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34740" y="1591056"/>
            <a:ext cx="347472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200" b="1" dirty="0">
                <a:solidFill>
                  <a:srgbClr val="FBBF24"/>
                </a:solidFill>
                <a:latin typeface="Aptos"/>
              </a:rPr>
              <a:t>2</a:t>
            </a:r>
            <a:endParaRPr sz="1200" b="1" i="0" dirty="0">
              <a:solidFill>
                <a:srgbClr val="FBBF24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34740" y="1920240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7FC"/>
                </a:solidFill>
                <a:latin typeface="Aptos"/>
              </a:rPr>
              <a:t>Encode categories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4740" y="2414016"/>
            <a:ext cx="2057400" cy="10241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2BFD2"/>
                </a:solidFill>
                <a:latin typeface="Aptos"/>
              </a:rPr>
              <a:t>Converted referrer_type using one-hot encoding; Boolean indicators became 0/1.</a:t>
            </a:r>
          </a:p>
        </p:txBody>
      </p:sp>
      <p:sp>
        <p:nvSpPr>
          <p:cNvPr id="25" name="Chevron 24"/>
          <p:cNvSpPr/>
          <p:nvPr/>
        </p:nvSpPr>
        <p:spPr>
          <a:xfrm>
            <a:off x="6071616" y="2371344"/>
            <a:ext cx="292608" cy="384048"/>
          </a:xfrm>
          <a:prstGeom prst="chevron">
            <a:avLst/>
          </a:prstGeom>
          <a:solidFill>
            <a:srgbClr val="35465E"/>
          </a:solidFill>
          <a:ln>
            <a:solidFill>
              <a:srgbClr val="35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73952" y="1484376"/>
            <a:ext cx="2395728" cy="224028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73952" y="1484376"/>
            <a:ext cx="59436" cy="224028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38544" y="1639824"/>
            <a:ext cx="347472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200" b="1" dirty="0">
                <a:solidFill>
                  <a:srgbClr val="38BDF8"/>
                </a:solidFill>
                <a:latin typeface="Aptos"/>
              </a:rPr>
              <a:t>3</a:t>
            </a:r>
            <a:endParaRPr sz="1200" b="1" i="0" dirty="0">
              <a:solidFill>
                <a:srgbClr val="38BDF8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38544" y="1969008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7FC"/>
                </a:solidFill>
                <a:latin typeface="Aptos"/>
              </a:rPr>
              <a:t>Create a feature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8544" y="2462784"/>
            <a:ext cx="2057400" cy="10241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2BFD2"/>
                </a:solidFill>
                <a:latin typeface="Aptos"/>
              </a:rPr>
              <a:t>Calculated avg_dwell_time from the three dwell-time fields.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3977639"/>
            <a:ext cx="5349240" cy="1572768"/>
          </a:xfrm>
          <a:prstGeom prst="roundRect">
            <a:avLst/>
          </a:prstGeom>
          <a:solidFill>
            <a:srgbClr val="1D2B41"/>
          </a:solidFill>
          <a:ln>
            <a:solidFill>
              <a:srgbClr val="1D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4360" y="3977639"/>
            <a:ext cx="59436" cy="157276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" y="4178808"/>
            <a:ext cx="4754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Aptos"/>
              </a:rPr>
              <a:t>Feature selection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4553712"/>
            <a:ext cx="4736592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4F7FC"/>
                </a:solidFill>
                <a:latin typeface="Aptos"/>
              </a:rPr>
              <a:t>Removed session_duration_ms, timezone_mismatch, referrer_type_direct/social, webdriver_flag, copy_events and viewport_width when removal did not worsen RMSE.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3977639"/>
            <a:ext cx="5349240" cy="1572768"/>
          </a:xfrm>
          <a:prstGeom prst="roundRect">
            <a:avLst/>
          </a:prstGeom>
          <a:solidFill>
            <a:srgbClr val="1D2B41"/>
          </a:solidFill>
          <a:ln>
            <a:solidFill>
              <a:srgbClr val="1D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36208" y="3977639"/>
            <a:ext cx="59436" cy="1572768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73952" y="4178808"/>
            <a:ext cx="4754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DD4BF"/>
                </a:solidFill>
                <a:latin typeface="Aptos"/>
              </a:rPr>
              <a:t>Class distribution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4553712"/>
            <a:ext cx="4736592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4F7FC"/>
                </a:solidFill>
                <a:latin typeface="Aptos"/>
              </a:rPr>
              <a:t>257 human sessions (64.3%)  •  143 bot sessions (35.8%). The target label was retained.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9456"/>
            <a:ext cx="107442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4F7FC"/>
                </a:solidFill>
                <a:latin typeface="Aptos"/>
              </a:rPr>
              <a:t>Data 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201400" y="265176"/>
            <a:ext cx="438912" cy="329184"/>
          </a:xfrm>
          <a:prstGeom prst="roundRect">
            <a:avLst/>
          </a:prstGeom>
          <a:solidFill>
            <a:srgbClr val="1D2B41"/>
          </a:solidFill>
          <a:ln>
            <a:solidFill>
              <a:srgbClr val="1D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74320"/>
            <a:ext cx="43891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8BDF8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2BFD2"/>
                </a:solidFill>
                <a:latin typeface="Aptos"/>
              </a:rPr>
              <a:t>From the original session records to an interactive prediction and analysis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713232" cy="4114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11064240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2BFD2"/>
                </a:solidFill>
                <a:latin typeface="Aptos"/>
              </a:rPr>
              <a:t>BOT VS HUMAN  •  GROUP 14  •  UNIVERSITY OF TWENTE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084831" cy="932688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59436" cy="9326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609344"/>
            <a:ext cx="1810511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8BDF8"/>
                </a:solidFill>
                <a:latin typeface="Aptos"/>
              </a:rPr>
              <a:t>1  Raw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29384"/>
            <a:ext cx="1810511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4F7FC"/>
                </a:solidFill>
                <a:latin typeface="Aptos"/>
              </a:rPr>
              <a:t>data-7.csv
400 labelled sessions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36392" y="1508760"/>
            <a:ext cx="2148840" cy="932688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36392" y="1508760"/>
            <a:ext cx="59436" cy="932688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00984" y="1609344"/>
            <a:ext cx="1874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Aptos"/>
              </a:rPr>
              <a:t>2  Clean &amp; 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0984" y="1929384"/>
            <a:ext cx="18745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4F7FC"/>
                </a:solidFill>
                <a:latin typeface="Aptos"/>
              </a:rPr>
              <a:t>Outliers • encoding
Dwell-time feature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42432" y="1508760"/>
            <a:ext cx="2148840" cy="932688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42432" y="1508760"/>
            <a:ext cx="59436" cy="932688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07024" y="1609344"/>
            <a:ext cx="1874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BBF24"/>
                </a:solidFill>
                <a:latin typeface="Aptos"/>
              </a:rPr>
              <a:t>3  Split &amp;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7024" y="1929384"/>
            <a:ext cx="18745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4F7FC"/>
                </a:solidFill>
                <a:latin typeface="Aptos"/>
              </a:rPr>
              <a:t>80% train / 20% test
StandardScaler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48472" y="1508760"/>
            <a:ext cx="2990088" cy="932688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48472" y="1508760"/>
            <a:ext cx="59436" cy="9326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13064" y="1609344"/>
            <a:ext cx="2715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8BDF8"/>
                </a:solidFill>
                <a:latin typeface="Aptos"/>
              </a:rPr>
              <a:t>4  Train KNN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3064" y="1929384"/>
            <a:ext cx="2715768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 dirty="0">
                <a:solidFill>
                  <a:srgbClr val="F4F7FC"/>
                </a:solidFill>
                <a:latin typeface="Aptos"/>
              </a:rPr>
              <a:t>K = 5 • 13 features</a:t>
            </a:r>
            <a:endParaRPr lang="en-US" sz="1000" b="0" i="0" dirty="0">
              <a:solidFill>
                <a:srgbClr val="F4F7FC"/>
              </a:solidFill>
              <a:latin typeface="Aptos"/>
            </a:endParaRPr>
          </a:p>
          <a:p>
            <a:r>
              <a:rPr lang="en-US" sz="1000" dirty="0">
                <a:solidFill>
                  <a:srgbClr val="F4F7FC"/>
                </a:solidFill>
                <a:latin typeface="Aptos"/>
              </a:rPr>
              <a:t>K = 5 • 20 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48472" y="3657600"/>
            <a:ext cx="2990088" cy="9601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48472" y="3657600"/>
            <a:ext cx="59436" cy="960120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13064" y="3758184"/>
            <a:ext cx="2715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Aptos"/>
              </a:rPr>
              <a:t>5  Evaluate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13064" y="4078224"/>
            <a:ext cx="2715768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 dirty="0">
                <a:solidFill>
                  <a:srgbClr val="F4F7FC"/>
                </a:solidFill>
                <a:latin typeface="Aptos"/>
              </a:rPr>
              <a:t>Accuracy • MAE • RMSE
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18888" y="3657600"/>
            <a:ext cx="2697480" cy="9601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818888" y="3657600"/>
            <a:ext cx="59436" cy="96012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83479" y="3758184"/>
            <a:ext cx="2423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BBF24"/>
                </a:solidFill>
                <a:latin typeface="Aptos"/>
              </a:rPr>
              <a:t>6  Save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79" y="4078224"/>
            <a:ext cx="2423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4F7FC"/>
                </a:solidFill>
                <a:latin typeface="Aptos"/>
              </a:rPr>
              <a:t>knn_model.joblib
scaler.joblib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3657600"/>
            <a:ext cx="3154680" cy="9601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68680" y="3657600"/>
            <a:ext cx="59436" cy="96012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3271" y="3758184"/>
            <a:ext cx="2880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8BDF8"/>
                </a:solidFill>
                <a:latin typeface="Aptos"/>
              </a:rPr>
              <a:t>7  Streamlit 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1" y="4078224"/>
            <a:ext cx="2880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4F7FC"/>
                </a:solidFill>
                <a:latin typeface="Aptos"/>
              </a:rPr>
              <a:t>New CSV → prediction
Graphs + SQL queries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688336" y="1975104"/>
            <a:ext cx="402336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285232" y="1975104"/>
            <a:ext cx="41148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891272" y="1975104"/>
            <a:ext cx="41148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838944" y="2487168"/>
            <a:ext cx="0" cy="109728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7571231" y="4133087"/>
            <a:ext cx="731521" cy="0"/>
          </a:xfrm>
          <a:prstGeom prst="line">
            <a:avLst/>
          </a:prstGeom>
          <a:ln w="254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4069080" y="4133087"/>
            <a:ext cx="704088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977639" y="5166360"/>
            <a:ext cx="4434840" cy="512064"/>
          </a:xfrm>
          <a:prstGeom prst="roundRect">
            <a:avLst/>
          </a:prstGeom>
          <a:solidFill>
            <a:srgbClr val="1D2B41"/>
          </a:solidFill>
          <a:ln>
            <a:solidFill>
              <a:srgbClr val="1D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33087" y="5239512"/>
            <a:ext cx="4133087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4F7FC"/>
                </a:solidFill>
                <a:latin typeface="Aptos"/>
              </a:rPr>
              <a:t>Output: HUMAN (0)  or  BOT (1)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94360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FD2"/>
                </a:solidFill>
                <a:latin typeface="Aptos"/>
              </a:rPr>
              <a:t>Model development is performed in the notebook; the app loads the saved model and scaler for predictions.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9456"/>
            <a:ext cx="107442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4F7FC"/>
                </a:solidFill>
                <a:latin typeface="Aptos"/>
              </a:rPr>
              <a:t>Machine learning model and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201400" y="265176"/>
            <a:ext cx="438912" cy="329184"/>
          </a:xfrm>
          <a:prstGeom prst="roundRect">
            <a:avLst/>
          </a:prstGeom>
          <a:solidFill>
            <a:srgbClr val="1D2B41"/>
          </a:solidFill>
          <a:ln>
            <a:solidFill>
              <a:srgbClr val="1D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74320"/>
            <a:ext cx="43891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8BDF8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2BFD2"/>
                </a:solidFill>
                <a:latin typeface="Aptos"/>
              </a:rPr>
              <a:t>K-Nearest Neighbors (KNN) • k = 5 • 80/20 split • 80 test sessions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713232" cy="4114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11064240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2BFD2"/>
                </a:solidFill>
                <a:latin typeface="Aptos"/>
              </a:rPr>
              <a:t>BOT VS HUMAN  •  GROUP 14  •  UNIVERSITY OF TWENTE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2542032" cy="109728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59436" cy="109728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38BDF8"/>
                </a:solidFill>
                <a:latin typeface="Aptos"/>
              </a:rPr>
              <a:t>97.5%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47088"/>
            <a:ext cx="221284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4F7FC"/>
                </a:solidFill>
                <a:latin typeface="Aptos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03120"/>
            <a:ext cx="2240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B2BFD2"/>
                </a:solidFill>
                <a:latin typeface="Aptos"/>
              </a:rPr>
              <a:t>78 of 80 correct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8" y="1371600"/>
            <a:ext cx="2542032" cy="109728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47288" y="1371600"/>
            <a:ext cx="59436" cy="1097280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02736" y="1481328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2DD4BF"/>
                </a:solidFill>
                <a:latin typeface="Aptos"/>
              </a:rPr>
              <a:t>95.5%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1847088"/>
            <a:ext cx="221284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4F7FC"/>
                </a:solidFill>
                <a:latin typeface="Aptos"/>
              </a:rPr>
              <a:t>Precision for 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103120"/>
            <a:ext cx="2240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B2BFD2"/>
                </a:solidFill>
                <a:latin typeface="Aptos"/>
              </a:rPr>
              <a:t>21 / 22 predicted bots correct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1371600"/>
            <a:ext cx="2542032" cy="109728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0216" y="1371600"/>
            <a:ext cx="59436" cy="109728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55664" y="1481328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BBF24"/>
                </a:solidFill>
                <a:latin typeface="Aptos"/>
              </a:rPr>
              <a:t>95.5%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1847088"/>
            <a:ext cx="221284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4F7FC"/>
                </a:solidFill>
                <a:latin typeface="Aptos"/>
              </a:rPr>
              <a:t>Recall for BOT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103120"/>
            <a:ext cx="2240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B2BFD2"/>
                </a:solidFill>
                <a:latin typeface="Aptos"/>
              </a:rPr>
              <a:t>21 / 22 actual bots found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53144" y="1371600"/>
            <a:ext cx="2542032" cy="109728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53144" y="1371600"/>
            <a:ext cx="59436" cy="109728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08592" y="1481328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38BDF8"/>
                </a:solidFill>
                <a:latin typeface="Aptos"/>
              </a:rPr>
              <a:t>0.158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847088"/>
            <a:ext cx="221284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4F7FC"/>
                </a:solidFill>
                <a:latin typeface="Aptos"/>
              </a:rPr>
              <a:t>RMSE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2103120"/>
            <a:ext cx="2240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B2BFD2"/>
                </a:solidFill>
                <a:latin typeface="Aptos"/>
              </a:rPr>
              <a:t>Binary-label error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2724912"/>
            <a:ext cx="5303520" cy="274320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" y="2916936"/>
            <a:ext cx="47548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C"/>
                </a:solidFill>
                <a:latin typeface="Aptos"/>
              </a:rPr>
              <a:t>Confusion matrix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3310128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B2BFD2"/>
                </a:solidFill>
                <a:latin typeface="Aptos"/>
              </a:rPr>
              <a:t>Pred. HUMAN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4448" y="3310128"/>
            <a:ext cx="13533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B2BFD2"/>
                </a:solidFill>
                <a:latin typeface="Aptos"/>
              </a:rPr>
              <a:t>Pred. BOT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" y="3767328"/>
            <a:ext cx="9875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B2BFD2"/>
                </a:solidFill>
                <a:latin typeface="Aptos"/>
              </a:rPr>
              <a:t>Actual
HUMAN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498848"/>
            <a:ext cx="9875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B2BFD2"/>
                </a:solidFill>
                <a:latin typeface="Aptos"/>
              </a:rPr>
              <a:t>Actual
BOT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11680" y="3675887"/>
            <a:ext cx="1353312" cy="594360"/>
          </a:xfrm>
          <a:prstGeom prst="roundRect">
            <a:avLst/>
          </a:prstGeom>
          <a:solidFill>
            <a:srgbClr val="1D2B41"/>
          </a:solidFill>
          <a:ln>
            <a:solidFill>
              <a:srgbClr val="1D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011680" y="3739896"/>
            <a:ext cx="135331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4F7FC"/>
                </a:solidFill>
                <a:latin typeface="Aptos"/>
              </a:rPr>
              <a:t>57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84448" y="3675887"/>
            <a:ext cx="1353312" cy="594360"/>
          </a:xfrm>
          <a:prstGeom prst="round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84448" y="3739896"/>
            <a:ext cx="135331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4F7FC"/>
                </a:solidFill>
                <a:latin typeface="Aptos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4407408"/>
            <a:ext cx="1353312" cy="594360"/>
          </a:xfrm>
          <a:prstGeom prst="round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011680" y="4471416"/>
            <a:ext cx="135331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4F7FC"/>
                </a:solidFill>
                <a:latin typeface="Aptos"/>
              </a:rPr>
              <a:t>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84448" y="4407408"/>
            <a:ext cx="1353312" cy="594360"/>
          </a:xfrm>
          <a:prstGeom prst="round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584448" y="4471416"/>
            <a:ext cx="135331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4F7FC"/>
                </a:solidFill>
                <a:latin typeface="Aptos"/>
              </a:rPr>
              <a:t>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" y="5138928"/>
            <a:ext cx="473659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FD2"/>
                </a:solidFill>
                <a:latin typeface="Aptos"/>
              </a:rPr>
              <a:t>TN = 57  •  FP = 1  •  FN = 1  •  TP = 21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9632" y="2724912"/>
            <a:ext cx="5349240" cy="114300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99632" y="2724912"/>
            <a:ext cx="59436" cy="114300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0" y="2843784"/>
            <a:ext cx="498347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Aptos"/>
              </a:rPr>
              <a:t>Method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9944" y="3255264"/>
            <a:ext cx="4937759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FC"/>
                </a:solidFill>
                <a:latin typeface="Aptos"/>
              </a:rPr>
              <a:t>• StandardScaler + KNN; model selected after testing feature removal.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99632" y="4023360"/>
            <a:ext cx="5349240" cy="128016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199632" y="4023360"/>
            <a:ext cx="59436" cy="1280160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4142232"/>
            <a:ext cx="498347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DD4BF"/>
                </a:solidFill>
                <a:latin typeface="Aptos"/>
              </a:rPr>
              <a:t>Behavioural signals explored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9944" y="4553712"/>
            <a:ext cx="4937759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4F7FC"/>
                </a:solidFill>
                <a:latin typeface="Aptos"/>
              </a:rPr>
              <a:t>• Mouse-path curvature, idle ratio, scroll entropy, typing latency and button-hover time differed between the classes.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9456"/>
            <a:ext cx="107442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 dirty="0">
                <a:solidFill>
                  <a:srgbClr val="F4F7FC"/>
                </a:solidFill>
                <a:latin typeface="Aptos"/>
              </a:rPr>
              <a:t>Reflection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201400" y="265176"/>
            <a:ext cx="438912" cy="329184"/>
          </a:xfrm>
          <a:prstGeom prst="roundRect">
            <a:avLst/>
          </a:prstGeom>
          <a:solidFill>
            <a:srgbClr val="1D2B41"/>
          </a:solidFill>
          <a:ln>
            <a:solidFill>
              <a:srgbClr val="1D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74320"/>
            <a:ext cx="43891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8BDF8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dirty="0">
                <a:solidFill>
                  <a:srgbClr val="B2BFD2"/>
                </a:solidFill>
                <a:latin typeface="Aptos"/>
              </a:rPr>
              <a:t>What worked well, what could be improved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713232" cy="4114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56248"/>
            <a:ext cx="11064240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2BFD2"/>
                </a:solidFill>
                <a:latin typeface="Aptos"/>
              </a:rPr>
              <a:t>BOT VS HUMAN  •  GROUP 14  •  UNIVERSITY OF TWENTE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3566160" cy="448056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389888"/>
            <a:ext cx="59436" cy="4480560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508760"/>
            <a:ext cx="32004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DD4BF"/>
                </a:solidFill>
                <a:latin typeface="Aptos"/>
              </a:rPr>
              <a:t>What worked well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084832"/>
            <a:ext cx="3154679" cy="4462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dirty="0">
                <a:solidFill>
                  <a:srgbClr val="F4F7FC"/>
                </a:solidFill>
                <a:latin typeface="Aptos"/>
              </a:rPr>
              <a:t>• SQL queries helped compare average </a:t>
            </a:r>
            <a:r>
              <a:rPr lang="en-US" sz="1150" b="0" i="0" dirty="0">
                <a:solidFill>
                  <a:srgbClr val="F4F7FC"/>
                </a:solidFill>
                <a:latin typeface="Aptos"/>
              </a:rPr>
              <a:t>behavior</a:t>
            </a:r>
            <a:r>
              <a:rPr sz="1150" b="0" i="0" dirty="0">
                <a:solidFill>
                  <a:srgbClr val="F4F7FC"/>
                </a:solidFill>
                <a:latin typeface="Aptos"/>
              </a:rPr>
              <a:t> by </a:t>
            </a:r>
            <a:r>
              <a:rPr lang="en-US" sz="1150" b="0" i="0" dirty="0">
                <a:solidFill>
                  <a:srgbClr val="F4F7FC"/>
                </a:solidFill>
                <a:latin typeface="Aptos"/>
              </a:rPr>
              <a:t>features</a:t>
            </a:r>
            <a:r>
              <a:rPr sz="1150" b="0" i="0" dirty="0">
                <a:solidFill>
                  <a:srgbClr val="F4F7FC"/>
                </a:solidFill>
                <a:latin typeface="Apto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688336"/>
            <a:ext cx="3154679" cy="269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endParaRPr sz="1150" b="0" i="0" dirty="0">
              <a:solidFill>
                <a:srgbClr val="F4F7F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770632"/>
            <a:ext cx="3154679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dirty="0">
                <a:solidFill>
                  <a:srgbClr val="F4F7FC"/>
                </a:solidFill>
                <a:latin typeface="Aptos"/>
              </a:rPr>
              <a:t>• Feature removal improved held-out accuracy from 93.75% to 97.5%.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520440"/>
            <a:ext cx="3154679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4F7FC"/>
                </a:solidFill>
                <a:latin typeface="Aptos"/>
              </a:rPr>
              <a:t>• Saving the model and scaler enabled integration with Streamlit.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370832"/>
            <a:ext cx="3154679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4F7FC"/>
                </a:solidFill>
                <a:latin typeface="Aptos"/>
              </a:rPr>
              <a:t>• Graphs and SQL filters help users explore outputs.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7333" y="1338598"/>
            <a:ext cx="3566160" cy="448056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27333" y="1338598"/>
            <a:ext cx="59436" cy="448056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28501" y="1457470"/>
            <a:ext cx="32004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BBF24"/>
                </a:solidFill>
                <a:latin typeface="Aptos"/>
              </a:rPr>
              <a:t>What could improve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7645" y="2271286"/>
            <a:ext cx="3154679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 i="0">
                <a:solidFill>
                  <a:srgbClr val="F4F7FC"/>
                </a:solidFill>
                <a:latin typeface="Aptos"/>
              </a:rPr>
              <a:t>• The dataset is small: only 400 sessions.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8501" y="2938798"/>
            <a:ext cx="3154679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 i="0" dirty="0">
                <a:solidFill>
                  <a:srgbClr val="F4F7FC"/>
                </a:solidFill>
                <a:latin typeface="Aptos"/>
              </a:rPr>
              <a:t>• Feature selection was evaluated on the test split, so the estimate may be optimistic.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8500" y="3706894"/>
            <a:ext cx="3154679" cy="78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20" b="0" i="0" dirty="0">
                <a:solidFill>
                  <a:srgbClr val="F4F7FC"/>
                </a:solidFill>
                <a:latin typeface="Aptos"/>
              </a:rPr>
              <a:t>• </a:t>
            </a:r>
            <a:r>
              <a:rPr lang="en-US" sz="1120" b="0" i="0" dirty="0">
                <a:solidFill>
                  <a:srgbClr val="F4F7FC"/>
                </a:solidFill>
                <a:latin typeface="Aptos"/>
              </a:rPr>
              <a:t>Identify relationships between features and combine them when useful (e.g., average dwell time instead of three separate columns).</a:t>
            </a:r>
          </a:p>
          <a:p>
            <a:endParaRPr sz="1120" b="0" i="0" dirty="0">
              <a:solidFill>
                <a:srgbClr val="F4F7FC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830</Words>
  <Application>Microsoft Macintosh PowerPoint</Application>
  <PresentationFormat>Widescreen</PresentationFormat>
  <Paragraphs>144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Amirmohammad Masoumi</cp:lastModifiedBy>
  <cp:revision>4</cp:revision>
  <dcterms:created xsi:type="dcterms:W3CDTF">2013-01-27T09:14:16Z</dcterms:created>
  <dcterms:modified xsi:type="dcterms:W3CDTF">2026-10-20T14:08:01Z</dcterms:modified>
  <cp:category/>
</cp:coreProperties>
</file>